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7b125ac5394fb6" /><Relationship Type="http://schemas.openxmlformats.org/officeDocument/2006/relationships/extended-properties" Target="/docProps/app.xml" Id="R6b9d9a12d802415b" /><Relationship Type="http://schemas.openxmlformats.org/officeDocument/2006/relationships/officeDocument" Target="/ppt/presentation.xml" Id="R9fadedb7bc66406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4c11380d594cbe"/>
  </p:sldMasterIdLst>
  <p:notesMasterIdLst>
    <p:notesMasterId xmlns:r="http://schemas.openxmlformats.org/officeDocument/2006/relationships" r:id="Rbe70971bfddb4cc3"/>
  </p:notesMasterIdLst>
  <p:sldIdLst>
    <p:sldId xmlns:r="http://schemas.openxmlformats.org/officeDocument/2006/relationships" id="256" r:id="R4f5927436a5b4e8b"/>
    <p:sldId xmlns:r="http://schemas.openxmlformats.org/officeDocument/2006/relationships" id="257" r:id="Rf0e2c1e400f641e9"/>
    <p:sldId xmlns:r="http://schemas.openxmlformats.org/officeDocument/2006/relationships" id="258" r:id="R10e99de67d5d415a"/>
    <p:sldId xmlns:r="http://schemas.openxmlformats.org/officeDocument/2006/relationships" id="259" r:id="R37f8dc2e6b2c431f"/>
    <p:sldId xmlns:r="http://schemas.openxmlformats.org/officeDocument/2006/relationships" id="260" r:id="R50effe4f29fe4cdf"/>
    <p:sldId xmlns:r="http://schemas.openxmlformats.org/officeDocument/2006/relationships" id="261" r:id="Rd36a2cdc69bc4382"/>
    <p:sldId xmlns:r="http://schemas.openxmlformats.org/officeDocument/2006/relationships" id="262" r:id="Rdbf8977170fb4b29"/>
    <p:sldId xmlns:r="http://schemas.openxmlformats.org/officeDocument/2006/relationships" id="263" r:id="Rbf7b300b56d145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b57b955d58d4e9d" /><Relationship Type="http://schemas.openxmlformats.org/officeDocument/2006/relationships/slideMaster" Target="/ppt/slideMasters/slideMaster1.xml" Id="R7c4c11380d594cbe" /><Relationship Type="http://schemas.openxmlformats.org/officeDocument/2006/relationships/notesMaster" Target="/ppt/notesMasters/notesMaster1.xml" Id="Rbe70971bfddb4cc3" /><Relationship Type="http://schemas.openxmlformats.org/officeDocument/2006/relationships/presProps" Target="/ppt/presProps.xml" Id="Rd6d34a6f87bc4da0" /><Relationship Type="http://schemas.openxmlformats.org/officeDocument/2006/relationships/tableStyles" Target="/ppt/tableStyles.xml" Id="R427cb4e24bf24e8e" /><Relationship Type="http://schemas.openxmlformats.org/officeDocument/2006/relationships/slide" Target="/ppt/slides/slide1.xml" Id="R4f5927436a5b4e8b" /><Relationship Type="http://schemas.openxmlformats.org/officeDocument/2006/relationships/slide" Target="/ppt/slides/slide2.xml" Id="Rf0e2c1e400f641e9" /><Relationship Type="http://schemas.openxmlformats.org/officeDocument/2006/relationships/slide" Target="/ppt/slides/slide3.xml" Id="R10e99de67d5d415a" /><Relationship Type="http://schemas.openxmlformats.org/officeDocument/2006/relationships/slide" Target="/ppt/slides/slide4.xml" Id="R37f8dc2e6b2c431f" /><Relationship Type="http://schemas.openxmlformats.org/officeDocument/2006/relationships/slide" Target="/ppt/slides/slide5.xml" Id="R50effe4f29fe4cdf" /><Relationship Type="http://schemas.openxmlformats.org/officeDocument/2006/relationships/slide" Target="/ppt/slides/slide6.xml" Id="Rd36a2cdc69bc4382" /><Relationship Type="http://schemas.openxmlformats.org/officeDocument/2006/relationships/slide" Target="/ppt/slides/slide7.xml" Id="Rdbf8977170fb4b29" /><Relationship Type="http://schemas.openxmlformats.org/officeDocument/2006/relationships/slide" Target="/ppt/slides/slide8.xml" Id="Rbf7b300b56d145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e7ba5046a6418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e4f10117964293" /><Relationship Type="http://schemas.openxmlformats.org/officeDocument/2006/relationships/notesMaster" Target="/ppt/notesMasters/notesMaster1.xml" Id="R17531217c41b4c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b97cda28e24a0a" /><Relationship Type="http://schemas.openxmlformats.org/officeDocument/2006/relationships/notesMaster" Target="/ppt/notesMasters/notesMaster1.xml" Id="Rec5dc17d945e480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287007f54041c1" /><Relationship Type="http://schemas.openxmlformats.org/officeDocument/2006/relationships/notesMaster" Target="/ppt/notesMasters/notesMaster1.xml" Id="R878feae304e842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6a9b5025b4263" /><Relationship Type="http://schemas.openxmlformats.org/officeDocument/2006/relationships/notesMaster" Target="/ppt/notesMasters/notesMaster1.xml" Id="Ra138db82977e43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739f17c9f64b37" /><Relationship Type="http://schemas.openxmlformats.org/officeDocument/2006/relationships/notesMaster" Target="/ppt/notesMasters/notesMaster1.xml" Id="R16440321e59441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f5f45156724231" /><Relationship Type="http://schemas.openxmlformats.org/officeDocument/2006/relationships/notesMaster" Target="/ppt/notesMasters/notesMaster1.xml" Id="R105d2f713dae47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d960fcd1994f52" /><Relationship Type="http://schemas.openxmlformats.org/officeDocument/2006/relationships/notesMaster" Target="/ppt/notesMasters/notesMaster1.xml" Id="R5a0c290f9cb0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50d13d34a54f15" /><Relationship Type="http://schemas.openxmlformats.org/officeDocument/2006/relationships/notesMaster" Target="/ppt/notesMasters/notesMaster1.xml" Id="Rf14d6b8b3af144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the module purpose and connect it to the current project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Preview the learning sequence without giving check answers.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Dry fitting is a diagnostic test and Assembly order is a design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Adhesive selection and conditions for a strong bond and Clamping pressure, pads and squareness.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source-grounded theory for Reading diagonals, twist and racking and Glue clean-up, curing and hold points.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these prompts for retrieval before students open the interactive checks.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 the response process without supplying an answer to a live student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complete the exit ticket, then return to the website to save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Authorised local course theory: weeks7-8/index.html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df900ed0b0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889b3e6de74c44" /><Relationship Type="http://schemas.openxmlformats.org/officeDocument/2006/relationships/slideLayout" Target="/ppt/slideLayouts/slideLayout1.xml" Id="Re27788cb1b2644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7788cb1b2644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6dae473ac4b78" /><Relationship Type="http://schemas.openxmlformats.org/officeDocument/2006/relationships/image" Target="/ppt/media/image.png" Id="R8494860699cd4e0b" /><Relationship Type="http://schemas.openxmlformats.org/officeDocument/2006/relationships/notesSlide" Target="/ppt/notesSlides/notesSlide1.xml" Id="Rbd7939b069c642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86cb8247c456b" /><Relationship Type="http://schemas.openxmlformats.org/officeDocument/2006/relationships/notesSlide" Target="/ppt/notesSlides/notesSlide2.xml" Id="R9c9558ec2eeb48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af93ff2c54408" /><Relationship Type="http://schemas.openxmlformats.org/officeDocument/2006/relationships/notesSlide" Target="/ppt/notesSlides/notesSlide3.xml" Id="R14d728d9a13940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67d5d3e7d4387" /><Relationship Type="http://schemas.openxmlformats.org/officeDocument/2006/relationships/notesSlide" Target="/ppt/notesSlides/notesSlide4.xml" Id="R5f5d8f66a6aa4b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110fd7f6c4c3f" /><Relationship Type="http://schemas.openxmlformats.org/officeDocument/2006/relationships/notesSlide" Target="/ppt/notesSlides/notesSlide5.xml" Id="Raac83a2ebd4640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803db51bc431d" /><Relationship Type="http://schemas.openxmlformats.org/officeDocument/2006/relationships/notesSlide" Target="/ppt/notesSlides/notesSlide6.xml" Id="R3310edcb3a6d4e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6dcd01d1248a4" /><Relationship Type="http://schemas.openxmlformats.org/officeDocument/2006/relationships/notesSlide" Target="/ppt/notesSlides/notesSlide7.xml" Id="R7a7ab57a1b384c2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eb5257c054f41" /><Relationship Type="http://schemas.openxmlformats.org/officeDocument/2006/relationships/notesSlide" Target="/ppt/notesSlides/notesSlide8.xml" Id="R2617976bd972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4DDB86-7CD1-4EBD-9009-024F68302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A9CAD-7F91-4AFB-AE42-B0C7E02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85D72B-DE40-496D-A3BC-064DA21E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1/8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1D547-92A6-433D-A7E0-BA673661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619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Dry fitting, adhesives, clamping and squareness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58621-EAD8-40A2-BB03-710B2C27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435A53"/>
                </a:solidFill>
              </a:defRPr>
            </a:pPr>
            <a:r>
              <a:rPr sz="1800">
                <a:solidFill>
                  <a:srgbClr val="435A53"/>
                </a:solidFill>
              </a:rPr>
              <a:t>Weeks 7–8 guided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D354B-9482-4980-8620-E9F51005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714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F3CFC-61D4-4BB8-BA93-FE6C10B0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 the theory. Check your understanding. Save useful evidence.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5B73FB-BC78-4E42-BC6C-35FED769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90600"/>
            <a:ext cx="3981450" cy="4762500"/>
          </a:xfrm>
          <a:prstGeom xmlns:a="http://schemas.openxmlformats.org/drawingml/2006/main" prst="roundRect">
            <a:avLst>
              <a:gd name="adj" fmla="val 4785"/>
            </a:avLst>
          </a:prstGeom>
          <a:solidFill xmlns:a="http://schemas.openxmlformats.org/drawingml/2006/main">
            <a:srgbClr val="EBD2BD"/>
          </a:solidFill>
          <a:ln xmlns:a="http://schemas.openxmlformats.org/drawingml/2006/main" w="0">
            <a:solidFill>
              <a:srgbClr val="EBD2BD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94860699cd4e0b"/>
          <a:stretch xmlns:a="http://schemas.openxmlformats.org/drawingml/2006/main"/>
        </p:blipFill>
        <p:spPr>
          <a:xfrm xmlns:a="http://schemas.openxmlformats.org/drawingml/2006/main">
            <a:off x="7658100" y="1280261"/>
            <a:ext cx="3714750" cy="4183179"/>
          </a:xfrm>
          <a:prstGeom xmlns:a="http://schemas.openxmlformats.org/drawingml/2006/main" prst="roundRect">
            <a:avLst>
              <a:gd name="adj" fmla="val 5128"/>
            </a:avLst>
          </a:prstGeom>
        </p:spPr>
      </p:pic>
    </p:spTree>
    <p:extLst>
      <p:ext uri="{BB962C8B-B14F-4D97-AF65-F5344CB8AC3E}">
        <p14:creationId xmlns:p14="http://schemas.microsoft.com/office/powerpoint/2010/main" val="2117781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66EDCF-6630-4795-AA43-0A4EBC47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1E8E1-CABE-47CC-AE12-53F1DED4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F6C69-7851-4D74-9FF5-3269E137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2/8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FC51DB-88CE-4EFD-8709-DB243EB1B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What you will 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564F1-19B9-4D7F-8305-B2F0345E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990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35A53"/>
                </a:solidFill>
              </a:defRPr>
            </a:pPr>
            <a:r>
              <a:rPr sz="1650">
                <a:solidFill>
                  <a:srgbClr val="435A53"/>
                </a:solidFill>
              </a:rPr>
              <a:t>Use the module in order. Each idea supports the checks and written evidence that follow.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D38326-1276-4547-BE8E-E2D4BE7D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B1884-E628-4AFC-B705-F35E52C2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1E50C-D6FF-4441-91AA-C964411C9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Dry fitting is a diagnostic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B93FE-A30E-4805-96A2-00AE99E5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E5E1B-F305-4421-8D92-CAF99485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442FA1-5DD1-448B-BCAF-AE314E1C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Assembly order is a 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896A8-B2B5-4C27-9F15-94F05C74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1010C-B839-4D6C-ADF0-16855C7F4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EE69D-6C64-4A0A-8E8B-00BF7B1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Adhesive selection and conditions for a strong bond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69978-66BC-454F-BA99-3DF02F2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AA7603-B4A8-428C-8563-7837C1C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22526C-EE45-4B76-9C97-3EECE69C2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812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Clamping pressure, pads and squareness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8AE23-48F3-4C3D-8665-24C5D251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099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209F45-DBC9-4AB7-B7C6-4222C434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861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210ACB-F77D-4094-9AE0-07487860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9090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Reading diagonals, twist and racking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CC69E-043C-440E-AE86-50F2E8BE0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7BD194-6A94-43FB-B6B6-C0D1FA78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4958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CE2955-A186-4CBE-9EAD-67476CC9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400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Glue clean-up, curing and hold points</a:t>
            </a:r>
          </a:p>
        </p:txBody>
      </p:sp>
    </p:spTree>
    <p:extLst>
      <p:ext uri="{BB962C8B-B14F-4D97-AF65-F5344CB8AC3E}">
        <p14:creationId xmlns:p14="http://schemas.microsoft.com/office/powerpoint/2010/main" val="562474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DD784-50AB-4023-85FA-2D3624C9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4C0F7-A0BD-4E7E-8448-66A7EF92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E8E0B-052A-41C0-972E-7FFFF201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3/8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6C3F7-04ED-4CC7-B775-DBFBA275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Dry fitting is a diagnostic test + Assembly order is a…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874F75-E838-48FC-990C-DA7422E2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F86DB-E0DA-4FD4-8E89-E192981C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Dry fitting is a diagnostic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C30430-6A29-4DFE-9173-D036E0AE5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Dry fitting means assembling the tapered-leg frame without glue so problems can be found and corrected before the joints become permanent.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2CA3CC-5BB2-4738-A2B4-E22A2E98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A0032-9800-46D3-BD77-E96CFE71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Assembly order is a design decision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533FF6-875A-4FB7-9E3C-7DCF5836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glue-up is time-limited and difficult to reverse.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FB2A2-0092-4E41-BB5B-2BE8C84C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21191936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C1732E-34C8-4301-8CD1-142E43EF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4AFED-536C-49E9-8ABC-CB6DAE96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070FE-4657-46E0-BA05-0642A1C5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4/8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858CB-1268-47B5-B186-5CDAD2F5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Adhesive selection and conditions for a strong bond +…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4C98D-123F-4068-93A4-56439FFC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A7A89-5076-4DFD-9E55-F53702FF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Adhesive selection and conditions for a strong bond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093990-3245-43C6-A094-B0A23734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An appropriate timber adhesive must suit the table frame, provide a strong structural bond and allow enough working time for accurate assembly.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EE268-26F7-47D8-A579-BD5526FA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7CF450-FD30-458A-91B9-BAD30E45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Clamping pressure, pads and squareness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FC54D6-D0B6-4D49-AE0B-37A9EC74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successful glue-up begins with a planned sequence so the tapered legs, rails and shaped front apron are assembled in the correct order before the adhesive begins to set.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196B77-1260-46BE-98BC-26A685BD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835890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11D77D-471C-4122-B373-5E7DEA58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35937E-859D-4B6F-94E5-51BA074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4A03C8-13B2-4C21-AC5C-F3C743CA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5/8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E6646-DD73-45CA-89EE-FE9B270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66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Reading diagonals, twist and racking + Glue clean-up,…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497D57-5A2E-4FA7-85AB-F3D84B7F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113DB-1066-43F9-8BFC-66466AE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Reading diagonals, twist and racking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9A25BE-7DAF-4691-8381-8214019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A rectangular frame is square when corresponding corners are at right angles.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60C2C4-D38D-49D1-A34B-002645D9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5725"/>
            <a:ext cx="952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6A462-7092-4D1D-B9AD-DCE0636D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9B603D"/>
                </a:solidFill>
              </a:defRPr>
            </a:pPr>
            <a:r>
              <a:rPr sz="1650" b="1">
                <a:solidFill>
                  <a:srgbClr val="9B603D"/>
                </a:solidFill>
              </a:rPr>
              <a:t>Glue clean-up, curing and hold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988465-1EA4-438A-ADA3-1E15831E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962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3D31"/>
                </a:solidFill>
              </a:defRPr>
            </a:pPr>
            <a:r>
              <a:rPr sz="1650">
                <a:solidFill>
                  <a:srgbClr val="173D31"/>
                </a:solidFill>
              </a:rPr>
              <a:t>The assembly is not complete when the clamps are tightened.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9B24B-466B-4839-88AB-573CC20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i="1">
                <a:solidFill>
                  <a:srgbClr val="5A6A65"/>
                </a:solidFill>
              </a:defRPr>
            </a:pPr>
            <a:r>
              <a:rPr sz="1275" i="1">
                <a:solidFill>
                  <a:srgbClr val="5A6A65"/>
                </a:solidFill>
              </a:rPr>
              <a:t>Return to the module page for the full explanation, visual and section video.</a:t>
            </a:r>
          </a:p>
        </p:txBody>
      </p:sp>
    </p:spTree>
    <p:extLst>
      <p:ext uri="{BB962C8B-B14F-4D97-AF65-F5344CB8AC3E}">
        <p14:creationId xmlns:p14="http://schemas.microsoft.com/office/powerpoint/2010/main" val="1601137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641ED5-6534-4825-8601-AE5567E2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DF1B3F-3345-4492-9BC2-EC2277B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623CF-9A21-4EEB-B236-6351BB5A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6/8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F3DA3-9510-4D70-A6C1-A5A019E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Pause and check your understanding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9A41D-2E45-4674-B2CA-6760B4DD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is the controlling idea?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210EF-688C-453D-8A24-E28BC3E5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03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Dry fitting is a diagnostic test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296820-04CE-4920-BB1A-DB88AA9B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Which check would prevent a mistake?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F7190-9036-4B1D-80F6-4B2CDA1C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5285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Clamping pressure, pads and squareness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C07A6-BCBE-4577-8BB1-3B0E8B2B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33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9B603D"/>
                </a:solidFill>
              </a:defRPr>
            </a:pPr>
            <a:r>
              <a:rPr sz="1575" b="1">
                <a:solidFill>
                  <a:srgbClr val="9B603D"/>
                </a:solidFill>
              </a:rPr>
              <a:t>What evidence would show your decision?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135FB7-A618-4A7E-A19F-D45FB4D5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3D31"/>
                </a:solidFill>
              </a:defRPr>
            </a:pPr>
            <a:r>
              <a:rPr sz="1875" b="1">
                <a:solidFill>
                  <a:srgbClr val="173D31"/>
                </a:solidFill>
              </a:rPr>
              <a:t>Glue clean-up, curing and hold points</a:t>
            </a:r>
          </a:p>
        </p:txBody>
      </p:sp>
    </p:spTree>
    <p:extLst>
      <p:ext uri="{BB962C8B-B14F-4D97-AF65-F5344CB8AC3E}">
        <p14:creationId xmlns:p14="http://schemas.microsoft.com/office/powerpoint/2010/main" val="15664527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181F7C-53AF-4C09-B874-0BDAC4FA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EA58BC-808E-4D31-832D-507AAE5A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43221-281E-4085-8A7D-F74D961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7/8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0415A-4152-4A54-83D2-7490E8F6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D31"/>
                </a:solidFill>
              </a:defRPr>
            </a:pPr>
            <a:r>
              <a:rPr sz="3600" b="1">
                <a:solidFill>
                  <a:srgbClr val="173D31"/>
                </a:solidFill>
              </a:rPr>
              <a:t>Build a stronger written response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1C3F7-9A12-45B6-B5B5-FED48901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Read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67BF0-74A8-4C32-AE56-9C915F19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050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Underline the command word and the project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51576C-0E67-491F-A7D0-0DC38EE1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81192A-A1B3-44C5-98BE-C80C58B7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Select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940501-394E-4BF3-B9D0-A7DF393A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9527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Return to the exact theory section and choose relevant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B84701-EE0B-4004-A627-819849C1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87E27-B486-479A-8EBA-56A5EE9B1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145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27C5FC-D5D8-475D-9F26-B2287FA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Connect the decision, reason and likely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258F7-1CFA-4151-8F77-306DBD51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4AE76-1281-4C24-A047-1FE9BB45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142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B603D"/>
                </a:solidFill>
              </a:defRPr>
            </a:pPr>
            <a:r>
              <a:rPr sz="2100" b="1">
                <a:solidFill>
                  <a:srgbClr val="9B603D"/>
                </a:solidFill>
              </a:rPr>
              <a:t>Check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792722-59EA-4DE5-BBFC-E52523DD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048250"/>
            <a:ext cx="847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73D31"/>
                </a:solidFill>
              </a:defRPr>
            </a:pPr>
            <a:r>
              <a:rPr sz="1725">
                <a:solidFill>
                  <a:srgbClr val="173D31"/>
                </a:solidFill>
              </a:rPr>
              <a:t>Make sure the response answers the question and stays source-accurate.</a:t>
            </a:r>
          </a:p>
        </p:txBody>
      </p:sp>
    </p:spTree>
    <p:extLst>
      <p:ext uri="{BB962C8B-B14F-4D97-AF65-F5344CB8AC3E}">
        <p14:creationId xmlns:p14="http://schemas.microsoft.com/office/powerpoint/2010/main" val="922140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AE832-2F19-4AC4-B3EC-F42A634F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603D"/>
          </a:solidFill>
          <a:ln xmlns:a="http://schemas.openxmlformats.org/drawingml/2006/main" w="0">
            <a:solidFill>
              <a:srgbClr val="9B603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A0B77-A940-44C1-A90F-894B4144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9B603D"/>
                </a:solidFill>
              </a:defRPr>
            </a:pPr>
            <a:r>
              <a:rPr sz="1050" b="1">
                <a:solidFill>
                  <a:srgbClr val="9B603D"/>
                </a:solidFill>
              </a:rPr>
              <a:t>BEDSIDE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8796C4-8F73-492D-9F47-76D47332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64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A6A65"/>
                </a:solidFill>
              </a:defRPr>
            </a:pPr>
            <a:r>
              <a:rPr sz="1050">
                <a:solidFill>
                  <a:srgbClr val="5A6A65"/>
                </a:solidFill>
              </a:rPr>
              <a:t>Weeks 7–8  ·  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506B5-15A6-4948-950A-AF187056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6667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D31"/>
                </a:solidFill>
              </a:defRPr>
            </a:pPr>
            <a:r>
              <a:rPr sz="4500" b="1">
                <a:solidFill>
                  <a:srgbClr val="173D31"/>
                </a:solidFill>
              </a:rPr>
              <a:t>Exit ticket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F4C04-0995-47CC-82A5-D742C88B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35A53"/>
                </a:solidFill>
              </a:defRPr>
            </a:pPr>
            <a:r>
              <a:rPr sz="1725">
                <a:solidFill>
                  <a:srgbClr val="435A53"/>
                </a:solidFill>
              </a:rPr>
              <a:t>Before you finish this module, answer these in your own words: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8E214-A2A8-4BF6-8F6E-8E6592E9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B36942-16FA-4540-88F9-86CB840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670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D31"/>
                </a:solidFill>
              </a:defRPr>
            </a:pPr>
            <a:r>
              <a:rPr sz="1650" b="1">
                <a:solidFill>
                  <a:srgbClr val="173D31"/>
                </a:solidFill>
              </a:rPr>
              <a:t>1. One idea I can now explain: Dry fitting is a diagnostic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CA823D-EDD2-46BA-8363-1FC6810C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8EC0F-AA9F-484A-96D6-58F4EBD4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338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2. One practical check I must remember before the next stage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FAF80-49B3-4471-A36D-E2F38B88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0382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BD2B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88620-39C4-4888-80E7-0F22123F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006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D31"/>
                </a:solidFill>
              </a:defRPr>
            </a:pPr>
            <a:r>
              <a:rPr sz="1650" b="0">
                <a:solidFill>
                  <a:srgbClr val="173D31"/>
                </a:solidFill>
              </a:rPr>
              <a:t>3. One piece of evidence I should save or improve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181130-7DE9-401A-AE11-909A0E67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9B603D"/>
                </a:solidFill>
              </a:defRPr>
            </a:pPr>
            <a:r>
              <a:rPr sz="1350" b="1">
                <a:solidFill>
                  <a:srgbClr val="9B603D"/>
                </a:solidFill>
              </a:rPr>
              <a:t>Return to the module page to complete the checks, written response and folio evidence.</a:t>
            </a:r>
          </a:p>
        </p:txBody>
      </p:sp>
    </p:spTree>
    <p:extLst>
      <p:ext uri="{BB962C8B-B14F-4D97-AF65-F5344CB8AC3E}">
        <p14:creationId xmlns:p14="http://schemas.microsoft.com/office/powerpoint/2010/main" val="1804440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2026-08-16T02:12:39.4910000Z</dcterms:created>
  <dcterms:modified xsi:type="dcterms:W3CDTF">2026-08-16T02:12:39.4910000Z</dcterms:modified>
</coreProperties>
</file>