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897498851e4509" /><Relationship Type="http://schemas.openxmlformats.org/officeDocument/2006/relationships/extended-properties" Target="/docProps/app.xml" Id="R6924ed91f33241cd" /><Relationship Type="http://schemas.openxmlformats.org/officeDocument/2006/relationships/officeDocument" Target="/ppt/presentation.xml" Id="R0b679104b4784f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8fd0ebf0864a8b"/>
  </p:sldMasterIdLst>
  <p:notesMasterIdLst>
    <p:notesMasterId xmlns:r="http://schemas.openxmlformats.org/officeDocument/2006/relationships" r:id="Rb0cc93659cc04e84"/>
  </p:notesMasterIdLst>
  <p:sldIdLst>
    <p:sldId xmlns:r="http://schemas.openxmlformats.org/officeDocument/2006/relationships" id="256" r:id="R40154bfa50ee469f"/>
    <p:sldId xmlns:r="http://schemas.openxmlformats.org/officeDocument/2006/relationships" id="257" r:id="Rc67377d1c9d747b9"/>
    <p:sldId xmlns:r="http://schemas.openxmlformats.org/officeDocument/2006/relationships" id="258" r:id="R33e2d59a84ac4688"/>
    <p:sldId xmlns:r="http://schemas.openxmlformats.org/officeDocument/2006/relationships" id="259" r:id="R110b96141819462c"/>
    <p:sldId xmlns:r="http://schemas.openxmlformats.org/officeDocument/2006/relationships" id="260" r:id="R7303572ce4fe463a"/>
    <p:sldId xmlns:r="http://schemas.openxmlformats.org/officeDocument/2006/relationships" id="261" r:id="R516625dd69a046b9"/>
    <p:sldId xmlns:r="http://schemas.openxmlformats.org/officeDocument/2006/relationships" id="262" r:id="R0b22eadba4844b1d"/>
    <p:sldId xmlns:r="http://schemas.openxmlformats.org/officeDocument/2006/relationships" id="263" r:id="R260d8be19098451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23af5cd9404987" /><Relationship Type="http://schemas.openxmlformats.org/officeDocument/2006/relationships/slideMaster" Target="/ppt/slideMasters/slideMaster1.xml" Id="R888fd0ebf0864a8b" /><Relationship Type="http://schemas.openxmlformats.org/officeDocument/2006/relationships/notesMaster" Target="/ppt/notesMasters/notesMaster1.xml" Id="Rb0cc93659cc04e84" /><Relationship Type="http://schemas.openxmlformats.org/officeDocument/2006/relationships/presProps" Target="/ppt/presProps.xml" Id="R6e22bd17884d43fe" /><Relationship Type="http://schemas.openxmlformats.org/officeDocument/2006/relationships/tableStyles" Target="/ppt/tableStyles.xml" Id="R19f5348258414b7e" /><Relationship Type="http://schemas.openxmlformats.org/officeDocument/2006/relationships/slide" Target="/ppt/slides/slide1.xml" Id="R40154bfa50ee469f" /><Relationship Type="http://schemas.openxmlformats.org/officeDocument/2006/relationships/slide" Target="/ppt/slides/slide2.xml" Id="Rc67377d1c9d747b9" /><Relationship Type="http://schemas.openxmlformats.org/officeDocument/2006/relationships/slide" Target="/ppt/slides/slide3.xml" Id="R33e2d59a84ac4688" /><Relationship Type="http://schemas.openxmlformats.org/officeDocument/2006/relationships/slide" Target="/ppt/slides/slide4.xml" Id="R110b96141819462c" /><Relationship Type="http://schemas.openxmlformats.org/officeDocument/2006/relationships/slide" Target="/ppt/slides/slide5.xml" Id="R7303572ce4fe463a" /><Relationship Type="http://schemas.openxmlformats.org/officeDocument/2006/relationships/slide" Target="/ppt/slides/slide6.xml" Id="R516625dd69a046b9" /><Relationship Type="http://schemas.openxmlformats.org/officeDocument/2006/relationships/slide" Target="/ppt/slides/slide7.xml" Id="R0b22eadba4844b1d" /><Relationship Type="http://schemas.openxmlformats.org/officeDocument/2006/relationships/slide" Target="/ppt/slides/slide8.xml" Id="R260d8be1909845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1fe9b18e4f42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5abf59e761474e" /><Relationship Type="http://schemas.openxmlformats.org/officeDocument/2006/relationships/notesMaster" Target="/ppt/notesMasters/notesMaster1.xml" Id="Rb77aa7f6611a43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da9c48e9f1747a8" /><Relationship Type="http://schemas.openxmlformats.org/officeDocument/2006/relationships/notesMaster" Target="/ppt/notesMasters/notesMaster1.xml" Id="Rd49684a1cc3c4a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1a8b44989d44ed" /><Relationship Type="http://schemas.openxmlformats.org/officeDocument/2006/relationships/notesMaster" Target="/ppt/notesMasters/notesMaster1.xml" Id="R1e3ca43bf74044d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5daa46d1d944d1a" /><Relationship Type="http://schemas.openxmlformats.org/officeDocument/2006/relationships/notesMaster" Target="/ppt/notesMasters/notesMaster1.xml" Id="R311d7a72ce8d4d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a83997d4e24c74" /><Relationship Type="http://schemas.openxmlformats.org/officeDocument/2006/relationships/notesMaster" Target="/ppt/notesMasters/notesMaster1.xml" Id="R64f6e671f8d944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618f406d6df4171" /><Relationship Type="http://schemas.openxmlformats.org/officeDocument/2006/relationships/notesMaster" Target="/ppt/notesMasters/notesMaster1.xml" Id="R32b476d22fa746f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bd2dbfc16614cb8" /><Relationship Type="http://schemas.openxmlformats.org/officeDocument/2006/relationships/notesMaster" Target="/ppt/notesMasters/notesMaster1.xml" Id="Rb81d5a2dfbed40b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087e42e3e134c46" /><Relationship Type="http://schemas.openxmlformats.org/officeDocument/2006/relationships/notesMaster" Target="/ppt/notesMasters/notesMaster1.xml" Id="R4ec2a369aa0542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module purpose and connect it to the current project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weeks15-16/index.html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the learning sequence without giving check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weeks15-16/index.html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Follow the approved finish system and Applying a timber finish evenly.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weeks15-16/index.html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Drying, curing, handling and between-stage preparation and Chemical safety.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weeks15-16/index.html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Using the label, SDS and hierarchy of controls and Sustainable practice and responsible waste handling.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weeks15-16/index.html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prompts for retrieval before students open the interactive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weeks15-16/index.html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response process without supplying an answer to a live student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weeks15-16/index.html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complete the exit ticket, then return to the website to save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weeks15-16/index.html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188203bc1a406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612dabc8aa437d" /><Relationship Type="http://schemas.openxmlformats.org/officeDocument/2006/relationships/slideLayout" Target="/ppt/slideLayouts/slideLayout1.xml" Id="Rfe4f75b2c52643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4f75b2c52643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485883446a4290" /><Relationship Type="http://schemas.openxmlformats.org/officeDocument/2006/relationships/image" Target="/ppt/media/image.png" Id="Rb33bb080eaa34ac0" /><Relationship Type="http://schemas.openxmlformats.org/officeDocument/2006/relationships/notesSlide" Target="/ppt/notesSlides/notesSlide1.xml" Id="R11ce434b720c40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95de4cc6304a99" /><Relationship Type="http://schemas.openxmlformats.org/officeDocument/2006/relationships/notesSlide" Target="/ppt/notesSlides/notesSlide2.xml" Id="R667a1512f47f434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3c6d9d16cf48a2" /><Relationship Type="http://schemas.openxmlformats.org/officeDocument/2006/relationships/notesSlide" Target="/ppt/notesSlides/notesSlide3.xml" Id="R479e77640d71480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ca3d84ff31469f" /><Relationship Type="http://schemas.openxmlformats.org/officeDocument/2006/relationships/notesSlide" Target="/ppt/notesSlides/notesSlide4.xml" Id="R3031edbd6bf445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723b8c003641d0" /><Relationship Type="http://schemas.openxmlformats.org/officeDocument/2006/relationships/notesSlide" Target="/ppt/notesSlides/notesSlide5.xml" Id="R8eb9e059c8c2400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198d2f4feb4095" /><Relationship Type="http://schemas.openxmlformats.org/officeDocument/2006/relationships/notesSlide" Target="/ppt/notesSlides/notesSlide6.xml" Id="R918e2739404342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deca1c070749db" /><Relationship Type="http://schemas.openxmlformats.org/officeDocument/2006/relationships/notesSlide" Target="/ppt/notesSlides/notesSlide7.xml" Id="R867abd15241744f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57d1c525984aad" /><Relationship Type="http://schemas.openxmlformats.org/officeDocument/2006/relationships/notesSlide" Target="/ppt/notesSlides/notesSlide8.xml" Id="Ra43e87180fd04a0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11A1BF-9AFA-4031-9808-FDAA93E7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40A484-2955-4472-A327-7C880E4D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F433BF-88C9-4CF0-9D82-532FAF42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15–16  ·  1/8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6401FE-CD45-42F0-8D94-47D75CDF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191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3D31"/>
                </a:solidFill>
              </a:defRPr>
            </a:pPr>
            <a:r>
              <a:rPr sz="4500" b="1">
                <a:solidFill>
                  <a:srgbClr val="173D31"/>
                </a:solidFill>
              </a:rPr>
              <a:t>Timber finishing, chemical safety and sustainability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DDE7A6-CC86-46B6-BBBB-336C9DF3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35A53"/>
                </a:solidFill>
              </a:defRPr>
            </a:pPr>
            <a:r>
              <a:rPr sz="1800">
                <a:solidFill>
                  <a:srgbClr val="435A53"/>
                </a:solidFill>
              </a:rPr>
              <a:t>Weeks 15–16 guided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6E3739-BC45-4C04-A315-3ABA14D6F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DD3B2D-206B-4FAE-A702-1698AB0BB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Read the theory. Check your understanding. Save useful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0DFBA3-1C6D-44EA-82BF-AB7C9DBD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90600"/>
            <a:ext cx="3981450" cy="4762500"/>
          </a:xfrm>
          <a:prstGeom xmlns:a="http://schemas.openxmlformats.org/drawingml/2006/main" prst="roundRect">
            <a:avLst>
              <a:gd name="adj" fmla="val 4785"/>
            </a:avLst>
          </a:prstGeom>
          <a:solidFill xmlns:a="http://schemas.openxmlformats.org/drawingml/2006/main">
            <a:srgbClr val="EBD2BD"/>
          </a:solidFill>
          <a:ln xmlns:a="http://schemas.openxmlformats.org/drawingml/2006/main" w="0">
            <a:solidFill>
              <a:srgbClr val="EBD2BD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3bb080eaa34ac0"/>
          <a:stretch xmlns:a="http://schemas.openxmlformats.org/drawingml/2006/main"/>
        </p:blipFill>
        <p:spPr>
          <a:xfrm xmlns:a="http://schemas.openxmlformats.org/drawingml/2006/main">
            <a:off x="7658100" y="1280261"/>
            <a:ext cx="3714750" cy="4183179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</p:spTree>
    <p:extLst>
      <p:ext uri="{BB962C8B-B14F-4D97-AF65-F5344CB8AC3E}">
        <p14:creationId xmlns:p14="http://schemas.microsoft.com/office/powerpoint/2010/main" val="834212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5258CC-84BA-4191-AC2B-46518A2C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826CF0-02BB-425C-A16F-7075F211F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636E2C-B4D4-4121-94CB-8AD152110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15–16  ·  2/8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F42FA3-BD21-4FA6-B01F-B655A1143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What you will 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C5CABC-5606-4018-9C57-D86C4073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35A53"/>
                </a:solidFill>
              </a:defRPr>
            </a:pPr>
            <a:r>
              <a:rPr sz="1650">
                <a:solidFill>
                  <a:srgbClr val="435A53"/>
                </a:solidFill>
              </a:rPr>
              <a:t>Use the module in order. Each idea supports the checks and written evidence that follow.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959EC7-20B4-485B-810F-EB9D3431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F4756E-55A2-4075-A143-6063DFE1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C827D9-936D-4D04-B301-6259D2BB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81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Follow the approved finish system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563B4C-8A7E-4FD2-9C93-4C274C17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79C90B-E9B5-4076-AC1B-6D3EDA5A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86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F122CF-60FC-444C-9F1A-17BF5EAC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909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Applying a timber finish evenly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0439DC-D789-4610-BFA5-F5F77C1E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74878B-40E9-4659-A761-1FC235015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95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98D209-3165-481C-BA7B-51F3F384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005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Drying, curing, handling and between-stage preparation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F302B2-3F9F-4471-ABDE-3B66ADE8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3BA392-DD89-4D33-B111-17221EA3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237481-4443-4BCC-9D68-30DFDBB4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81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Chemical safety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323D4D-FABD-4EE1-9B37-6EB54AEC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09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B494DD-89F9-4C9B-A362-3C7D9A6D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486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09F13A-A7FB-49E5-B69F-8FBF430D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3909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Using the label, SDS and hierarchy of controls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EC8534-BE46-4FF4-8AAF-8CC2DD99E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19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932718-3D52-41F6-AB05-8777865E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495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F88ED7-E399-4B70-B852-2ED56AFFB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4005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Sustainable practice and responsible waste handling</a:t>
            </a:r>
          </a:p>
        </p:txBody>
      </p:sp>
    </p:spTree>
    <p:extLst>
      <p:ext uri="{BB962C8B-B14F-4D97-AF65-F5344CB8AC3E}">
        <p14:creationId xmlns:p14="http://schemas.microsoft.com/office/powerpoint/2010/main" val="867053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08C000-3AC7-4021-AB68-94DDFCD7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DA4CB9-539E-4508-B34A-0B685E37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B505E0-EF8B-404E-9913-C8E636C4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15–16  ·  3/8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9FA4AB-BEFC-4963-AF1E-CC573737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Follow the approved finish system + Applying a timber…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967858-29EA-430A-9520-5F133383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602AB4-FEF7-4D53-9B58-42AFE70A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B603D"/>
                </a:solidFill>
              </a:defRPr>
            </a:pPr>
            <a:r>
              <a:rPr sz="1650" b="1">
                <a:solidFill>
                  <a:srgbClr val="9B603D"/>
                </a:solidFill>
              </a:rPr>
              <a:t>Follow the approved finish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AC6D2F-D6AC-4D42-BFF1-0B5C0822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The finish system is selected and approved by the teacher for the project, timber, workshop and available controls.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9D5059-E05F-482E-8164-55CE9DA31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A871ED-C6A2-4FF0-A302-3FB2B1204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B603D"/>
                </a:solidFill>
              </a:defRPr>
            </a:pPr>
            <a:r>
              <a:rPr sz="1650" b="1">
                <a:solidFill>
                  <a:srgbClr val="9B603D"/>
                </a:solidFill>
              </a:rPr>
              <a:t>Applying a timber finish evenly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AB1126-97BD-4C6A-883B-A280B493E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Apply only the teacher-approved finish system and follow the product instructions provided in the workshop.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647027-4635-4233-8A77-88862AD2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3842522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B52996-9A4F-4D10-B8C6-24868AE9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0D80ED-47C4-4081-8D70-83E3B1DDC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951FFA-959F-494E-93D6-9394FD90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15–16  ·  4/8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F89DDD-39EC-491E-86C1-C3CA8789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Drying, curing, handling and between-stage preparation +…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865EBA-7329-4FB5-BC1A-E3406030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41E015-A254-4CA9-B7BA-1387E264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B603D"/>
                </a:solidFill>
              </a:defRPr>
            </a:pPr>
            <a:r>
              <a:rPr sz="1650" b="1">
                <a:solidFill>
                  <a:srgbClr val="9B603D"/>
                </a:solidFill>
              </a:rPr>
              <a:t>Drying, curing, handling and between-stage preparation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ACFE33-B7A0-44F8-ACE7-6CA2F982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 surface may feel dry enough to touch while the finish is still developing hardness, adhesion and resistance underneath.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67E11B-8D44-4A5B-A69C-FE7A452D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853E80-4206-4BA6-B01C-3EB7FCEF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B603D"/>
                </a:solidFill>
              </a:defRPr>
            </a:pPr>
            <a:r>
              <a:rPr sz="1650" b="1">
                <a:solidFill>
                  <a:srgbClr val="9B603D"/>
                </a:solidFill>
              </a:rPr>
              <a:t>Chemical safety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5AF65A-DA96-4777-8B49-C4549414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Before applying the approved timber finish, read the supplied product label and Safety Data Sheet (SDS) so you understand the hazards, required controls and emergency information.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67D1B6-F295-44D0-80B0-9E97FA20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8970622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76548E-A03B-45B4-BE31-9E1C4315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B9CA2C-C590-4AF6-BAF2-00C1F6EB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1EF0CF-FF4F-4164-9ECB-B7C239284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15–16  ·  5/8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7E7FF7-63A8-4D88-992B-ADA01BA0B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Using the label, SDS and hierarchy of controls +…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534055-7989-4E3D-A87C-F312689B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C86B65-545A-45E0-995C-7439D539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B603D"/>
                </a:solidFill>
              </a:defRPr>
            </a:pPr>
            <a:r>
              <a:rPr sz="1650" b="1">
                <a:solidFill>
                  <a:srgbClr val="9B603D"/>
                </a:solidFill>
              </a:rPr>
              <a:t>Using the label, SDS and hierarchy of controls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86EED6-22EF-4459-A93A-C83F2636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The label provides immediate product information; the Safety Data Sheet provides detailed hazard, first-aid, exposure-control, storage and spill information.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1CF11A-D8B6-409B-BA31-15454B8C0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839C6C-D77B-4431-91C8-70E21908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B603D"/>
                </a:solidFill>
              </a:defRPr>
            </a:pPr>
            <a:r>
              <a:rPr sz="1650" b="1">
                <a:solidFill>
                  <a:srgbClr val="9B603D"/>
                </a:solidFill>
              </a:rPr>
              <a:t>Sustainable practice and responsible waste handling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0ED35C-37EE-495C-8599-826D695C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Sustainable practice during finishing and final work means using materials carefully while still achieving a safe, durable and high-quality bedside table.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CB70FF-EFC4-412D-A770-4F590FDD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779641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C4F513-5E42-4501-83ED-E7DF8EBD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7D8019-B730-49CA-A77C-FD41F118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70DBA7-7EFB-42B9-9C39-F6841420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15–16  ·  6/8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CC5CC5-C1F9-4B1E-BD7B-B04F831D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Pause and check your understanding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EEDF46-8BC4-4400-BE2F-570A07EBD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B603D"/>
                </a:solidFill>
              </a:defRPr>
            </a:pPr>
            <a:r>
              <a:rPr sz="1575" b="1">
                <a:solidFill>
                  <a:srgbClr val="9B603D"/>
                </a:solidFill>
              </a:rPr>
              <a:t>What is the controlling idea?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B64659-56E1-4DBB-B55E-1B2A2998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Follow the approved finish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3C70DD-74EC-4E45-9823-78F18CAD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B603D"/>
                </a:solidFill>
              </a:defRPr>
            </a:pPr>
            <a:r>
              <a:rPr sz="1575" b="1">
                <a:solidFill>
                  <a:srgbClr val="9B603D"/>
                </a:solidFill>
              </a:rPr>
              <a:t>Which check would prevent a mistake?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0B0793-96F4-42C3-B6FF-FAECE619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Chemical safety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06D9D9-248C-44B7-AFA6-0CE2511E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B603D"/>
                </a:solidFill>
              </a:defRPr>
            </a:pPr>
            <a:r>
              <a:rPr sz="1575" b="1">
                <a:solidFill>
                  <a:srgbClr val="9B603D"/>
                </a:solidFill>
              </a:rPr>
              <a:t>What evidence would show your decision?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B57EC4-925B-4406-BA20-53AD3211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Sustainable practice and responsible waste handling</a:t>
            </a:r>
          </a:p>
        </p:txBody>
      </p:sp>
    </p:spTree>
    <p:extLst>
      <p:ext uri="{BB962C8B-B14F-4D97-AF65-F5344CB8AC3E}">
        <p14:creationId xmlns:p14="http://schemas.microsoft.com/office/powerpoint/2010/main" val="5572521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7ED21A-7E43-4DF7-AF69-5E73940D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AF558C-B019-4242-BF72-546507FF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C1939E-EEBA-4359-825A-13DD6811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15–16  ·  7/8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33A021-E35B-4EBC-ACF2-16CB5D8B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Build a stronger written response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7A4FAE-79DD-43A4-BA67-9335C2E14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B603D"/>
                </a:solidFill>
              </a:defRPr>
            </a:pPr>
            <a:r>
              <a:rPr sz="2100" b="1">
                <a:solidFill>
                  <a:srgbClr val="9B603D"/>
                </a:solidFill>
              </a:rPr>
              <a:t>Read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98DD97-AFA2-4308-8F27-AF526055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050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Underline the command word and the project detail.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BAC7B5-5F2E-4E64-AF23-EC77B7E45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D2B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B9AAD1-E80B-48DC-B900-B7BFF8C5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B603D"/>
                </a:solidFill>
              </a:defRPr>
            </a:pPr>
            <a:r>
              <a:rPr sz="2100" b="1">
                <a:solidFill>
                  <a:srgbClr val="9B603D"/>
                </a:solidFill>
              </a:rPr>
              <a:t>Select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41C351-4865-4057-AAF0-F71136AD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527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Return to the exact theory section and choose relevant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77D60E-8E95-4755-A423-07A2BC8F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D2B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651041-B119-4153-B761-19BE994A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B603D"/>
                </a:solidFill>
              </a:defRPr>
            </a:pPr>
            <a:r>
              <a:rPr sz="2100" b="1">
                <a:solidFill>
                  <a:srgbClr val="9B603D"/>
                </a:solidFill>
              </a:rPr>
              <a:t>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C82224-AD54-4581-8388-D7661FDF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005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Connect the decision, reason and likely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F3B8CE-A9B3-4242-8688-779DEAE9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D2B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F23336-816F-4D22-8B49-A3FFAAA39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B603D"/>
                </a:solidFill>
              </a:defRPr>
            </a:pPr>
            <a:r>
              <a:rPr sz="2100" b="1">
                <a:solidFill>
                  <a:srgbClr val="9B603D"/>
                </a:solidFill>
              </a:rPr>
              <a:t>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911FE8-8726-4CFF-86D0-F5B93F07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482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Make sure the response answers the question and stays source-accurate.</a:t>
            </a:r>
          </a:p>
        </p:txBody>
      </p:sp>
    </p:spTree>
    <p:extLst>
      <p:ext uri="{BB962C8B-B14F-4D97-AF65-F5344CB8AC3E}">
        <p14:creationId xmlns:p14="http://schemas.microsoft.com/office/powerpoint/2010/main" val="12218997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4E76DC-CEA9-4AFC-A301-38365656B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DE89F9-F459-45E5-BFA9-293C99CF8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F64CD0-D8E6-4ECE-B9EC-D81EE212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15–16  ·  8/8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42F949-F2EB-4EAB-B5A5-C5E10C8C9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666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3D31"/>
                </a:solidFill>
              </a:defRPr>
            </a:pPr>
            <a:r>
              <a:rPr sz="4500" b="1">
                <a:solidFill>
                  <a:srgbClr val="173D31"/>
                </a:solidFill>
              </a:rPr>
              <a:t>Exit ticket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234858-2BE2-48C0-8318-3F72124D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35A53"/>
                </a:solidFill>
              </a:defRPr>
            </a:pPr>
            <a:r>
              <a:rPr sz="1725">
                <a:solidFill>
                  <a:srgbClr val="435A53"/>
                </a:solidFill>
              </a:rPr>
              <a:t>Before you finish this module, answer these in your own words: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8F3247-7F02-4289-96EC-94711D6B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BD2B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53CD17-A588-41CA-9E8D-B09C182C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1. One idea I can now explain: Follow the approved finish system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02CDDF-F951-440C-B8F6-F16BBE63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BD2B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1CDAFD-2578-463A-9E2B-5C5BC1ED3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2. One practical check I must remember before the next stage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2CAAE3-0FC0-49FD-88A7-A06EAFFB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BD2B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968EE9-415B-4005-AA1D-54ADF6DF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006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3. One piece of evidence I should save or improve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898A6C-1294-4097-AB33-792E05CA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B603D"/>
                </a:solidFill>
              </a:defRPr>
            </a:pPr>
            <a:r>
              <a:rPr sz="1350" b="1">
                <a:solidFill>
                  <a:srgbClr val="9B603D"/>
                </a:solidFill>
              </a:rPr>
              <a:t>Return to the module page to complete the checks, written response and folio evidence.</a:t>
            </a:r>
          </a:p>
        </p:txBody>
      </p:sp>
    </p:spTree>
    <p:extLst>
      <p:ext uri="{BB962C8B-B14F-4D97-AF65-F5344CB8AC3E}">
        <p14:creationId xmlns:p14="http://schemas.microsoft.com/office/powerpoint/2010/main" val="18604372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2026-08-16T02:12:41.5780000Z</dcterms:created>
  <dcterms:modified xsi:type="dcterms:W3CDTF">2026-08-16T02:12:41.5780000Z</dcterms:modified>
</coreProperties>
</file>